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863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하나은행 ERP 뱅킹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</a:rPr>
              <a:t>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9E7E0"/>
                </a:solidFill>
                <a:latin typeface="맑은 고딕"/>
              </a:rPr>
              <a:t>User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버전  v1.0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발행일  2026.05.11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</a:rPr>
              <a:t>발행처  하나은행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07. 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5176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2937"/>
                </a:solidFill>
                <a:latin typeface="맑은 고딕"/>
              </a:rPr>
              <a:t>지로 업무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2937"/>
                </a:solidFill>
                <a:latin typeface="맑은 고딕"/>
              </a:rPr>
              <a:t>사용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93776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국고금 · 지방세 · 사회보험료 · 전기/전화 · 일반지로요금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5종 지로 업무의 조회부터 상신·결재까지 한 권으로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6309360"/>
            <a:ext cx="182880" cy="1828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6309360"/>
            <a:ext cx="182880" cy="182880"/>
          </a:xfrm>
          <a:prstGeom prst="rect">
            <a:avLst/>
          </a:prstGeom>
          <a:solidFill>
            <a:srgbClr val="00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59" y="6309360"/>
            <a:ext cx="182880" cy="18288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매뉴얼 소개 &gt; 활용법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이 매뉴얼 활용법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이 매뉴얼이 다루는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ERP 뱅킹 지로 모듈의 5종 업무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맑은 고딕"/>
              </a:rPr>
              <a:t>(국고금·지방세·사회보험료·전기/전화·일반지로요금) 사용법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맑은 고딕"/>
              </a:rPr>
              <a:t>상신자·결재자 역할별 화면과 절차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맑은 고딕"/>
              </a:rPr>
              <a:t>자주 보는 오류·알럿 메시지의 의미와 해결법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937"/>
                </a:solidFill>
                <a:latin typeface="맑은 고딕"/>
              </a:rPr>
              <a:t>처리 결과 조회·재처리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본문 표기 규칙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731520" cy="54864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6B59"/>
                </a:solidFill>
                <a:latin typeface="맑은 고딕"/>
              </a:rPr>
              <a:t>①②③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20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단계 번호 — 캡처 위 라벨과 본문 설명이 매칭됩니다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60320"/>
            <a:ext cx="731520" cy="54864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6B59"/>
                </a:solidFill>
                <a:latin typeface="맑은 고딕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51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주의 박스 — 실수하기 쉬운 부분, 반드시 확인하세요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91840"/>
            <a:ext cx="731520" cy="54864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83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팁 박스 — 더 빠르게 처리하는 방법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731520" cy="54864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6B59"/>
                </a:solidFill>
                <a:latin typeface="맑은 고딕"/>
              </a:rPr>
              <a:t>[버튼]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대괄호는 화면 내 버튼 또는 메뉴 이름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852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본인이 상신자인지 결재자인지에 따라 봐야 할 챕터가 다릅니다. 상신자는 5장·6장·7장을, 결재자는 5장 후반부·8장을 중점적으로 보시면 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매뉴얼 소개 &gt;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3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087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매뉴얼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28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01p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688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지로 업무 개요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88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06p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290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Quick Start — 5분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49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09p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89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공통 사용법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09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11p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1208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03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49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업무별 가이드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69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26p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17220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5087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결과조회 상세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1828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31p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33172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4231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4688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오류·알럿 메시지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2788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34p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9184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832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4290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FAQ &amp; 트러블슈팅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749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39p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25196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343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09178"/>
                </a:solidFill>
                <a:latin typeface="맑은 고딕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4389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부록 (용어집·색인)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709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42p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21208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53492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937"/>
                </a:solidFill>
                <a:latin typeface="맑은 고딕"/>
              </a:rPr>
              <a:t>변경이력·문의처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5669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45p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6172200"/>
            <a:ext cx="5029200" cy="6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Quick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Quick Start — 5분 안에 지로 1건 처리하기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4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급하다면 이 페이지만 보세요. 가장 흔한 상신자 시나리오입니다.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2194560" cy="1828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8483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메뉴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지로 &gt; 처리할 업무 선택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예: 국고금 상신/결재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920240"/>
            <a:ext cx="2194560" cy="1828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103120"/>
            <a:ext cx="411480" cy="411480"/>
          </a:xfrm>
          <a:prstGeom prst="ellipse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8483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63347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필터(지로상태·구분·납부기한) 설정 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[조회] 클릭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920240"/>
            <a:ext cx="2194560" cy="1828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0" y="2103120"/>
            <a:ext cx="411480" cy="411480"/>
          </a:xfrm>
          <a:prstGeom prst="ellipse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08483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상세조회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63347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대상 체크 → [상세조회요청] 클릭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(상신은 상세조회 완료 건만 가능)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920240"/>
            <a:ext cx="2194560" cy="1828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52360" y="2103120"/>
            <a:ext cx="411480" cy="411480"/>
          </a:xfrm>
          <a:prstGeom prst="ellipse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08483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상신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3347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대상 체크 → [상신] 클릭 → 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결재선 선택 →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920240"/>
            <a:ext cx="2194560" cy="1828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0" y="2103120"/>
            <a:ext cx="411480" cy="411480"/>
          </a:xfrm>
          <a:prstGeom prst="ellipse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08483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결과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33472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지로 &gt; [업무] 결과조회에서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은행처리결과·ERP처리상태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14800"/>
            <a:ext cx="11064240" cy="64008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2062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처음이거나 결재자라면 11페이지(공통 사용법)부터 차근차근 읽어보시는 것을 권장합니다.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6B59"/>
                </a:solidFill>
                <a:latin typeface="맑은 고딕"/>
              </a:rPr>
              <a:t>역할별 추천 시작 페이지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🔹 상신자(자금 담당자)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     4장 공통 사용법(p.11) → 5장 업무별 가이드(p.26)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🔹 결재자(팀장·임원)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     4장 후반 결재 처리(p.20) → 8장 FAQ(p.39)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0" b="1">
                <a:solidFill>
                  <a:srgbClr val="55B4A1"/>
                </a:solidFill>
                <a:latin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180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3774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9E7E0"/>
                </a:solidFill>
                <a:latin typeface="맑은 고딕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매뉴얼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49039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이 매뉴얼이 어떤 사람에게, 어떤 상황에서 유용한지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그리고 매뉴얼을 어떻게 활용해야 할지 안내합니다.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0" b="1">
                <a:solidFill>
                  <a:srgbClr val="55B4A1"/>
                </a:solidFill>
                <a:latin typeface="맑은 고딕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180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3774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9E7E0"/>
                </a:solidFill>
                <a:latin typeface="맑은 고딕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지로 업무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49039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ERP 뱅킹에서 처리 가능한 5종 지로 업무가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어떤 흐름으로 처리되는지 전체 그림을 보여드립니다.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02. 지로 업무 개요 &gt; 지로란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지로(Giro)란 무엇인가요?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7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지로(Giro)는 세금·공과금·각종 요금을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납부자가 일일이 송금하지 않고 한 번에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납부할 수 있도록 만든 결제 수단입니다.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ERP 뱅킹은 기업이 매달 처리해야 하는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수많은 지로 건을 통합 화면에서 조회·상신·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F2937"/>
                </a:solidFill>
                <a:latin typeface="맑은 고딕"/>
              </a:rPr>
              <a:t>결재·납부할 수 있도록 지원합니다.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ERP 뱅킹 지로의 핵심 가치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74519"/>
            <a:ext cx="274320" cy="82296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자동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24027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사업자번호·법인번호 기반 스케줄러가 매일 대상을 자동 수집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834639"/>
            <a:ext cx="274320" cy="82296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8346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일괄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39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여러 건을 한번에 상신·결재·납부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94759"/>
            <a:ext cx="274320" cy="82296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7947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결재 워크플로우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160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결재선·승인·반려·재상신 흐름 내장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754879"/>
            <a:ext cx="274320" cy="82296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47548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결과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12063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은행처리결과·ERP처리상태 실시간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02. 지로 업무 개요 &gt; 5종 업무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ERP 뱅킹에서 처리 가능한 지로 5종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8 /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13716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9178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맑은 고딕"/>
              </a:rPr>
              <a:t>국고금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화면 ID  FBS_PAYM_01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691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국세·관세·경찰청 범칙금·특허·항만수수료·기금 및 기타 국고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95728"/>
            <a:ext cx="110642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95728"/>
            <a:ext cx="13716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87168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9178"/>
                </a:solidFill>
                <a:latin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871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맑은 고딕"/>
              </a:rPr>
              <a:t>지방세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8529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화면 ID  FBS_PAYM_02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624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지방세·세외수입·환경개선 부담금·상하수도요금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110642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28416"/>
            <a:ext cx="13716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19856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9178"/>
                </a:solidFill>
                <a:latin typeface="맑은 고딕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4198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맑은 고딕"/>
              </a:rPr>
              <a:t>사회보험료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7856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화면 ID  FBS_PAYM_03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557016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국민연금·건강보험·고용보험·산재보험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61104"/>
            <a:ext cx="110642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61104"/>
            <a:ext cx="13716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52544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9178"/>
                </a:solidFill>
                <a:latin typeface="맑은 고딕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35254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맑은 고딕"/>
              </a:rPr>
              <a:t>전기 / 전화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화면 ID  FBS_PAYM_04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48970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한국전력·통신사 청구 요금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93792"/>
            <a:ext cx="11064240" cy="868680"/>
          </a:xfrm>
          <a:prstGeom prst="rect">
            <a:avLst/>
          </a:prstGeom>
          <a:solidFill>
            <a:srgbClr val="FFFFFF"/>
          </a:solidFill>
          <a:ln w="9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193792"/>
            <a:ext cx="13716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85232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9178"/>
                </a:solidFill>
                <a:latin typeface="맑은 고딕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2852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맑은 고딕"/>
              </a:rPr>
              <a:t>일반지로요금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6509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화면 ID  FBS_PAYM_05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42239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기타 지로번호로 청구되는 각종 요금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6355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635508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5종 모두 화면 구조와 사용 절차가 거의 동일합니다. 4장에서 공통 사용법을 익히면 모든 업무에 동일하게 적용됩니다.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02. 지로 업무 개요 &gt; 처리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지로 처리 전체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9 /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자동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사업자번호 기반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스케줄러 일일 수집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25160" y="3063240"/>
            <a:ext cx="89440" cy="274320"/>
          </a:xfrm>
          <a:prstGeom prst="rightArrow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필터 설정 →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간략·상세조회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08240" y="3063240"/>
            <a:ext cx="89440" cy="274320"/>
          </a:xfrm>
          <a:prstGeom prst="rightArrow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상신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결재선 선택 →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상신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91320" y="3063240"/>
            <a:ext cx="89440" cy="274320"/>
          </a:xfrm>
          <a:prstGeom prst="rightArrow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결재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팀장/임원이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승인 또는 반려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74400" y="3063240"/>
            <a:ext cx="89440" cy="274320"/>
          </a:xfrm>
          <a:prstGeom prst="rightArrow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출금·납부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은행 자동 처리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(승인 즉시)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557480" y="3063240"/>
            <a:ext cx="89440" cy="274320"/>
          </a:xfrm>
          <a:prstGeom prst="rightArrow">
            <a:avLst/>
          </a:prstGeom>
          <a:solidFill>
            <a:srgbClr val="009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46920" y="2286000"/>
            <a:ext cx="1691640" cy="18288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23774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9178"/>
                </a:solidFill>
                <a:latin typeface="맑은 고딕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7889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결과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24612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은행처리결과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ERP처리상태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역할별 담당 구간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29200"/>
            <a:ext cx="6858000" cy="457200"/>
          </a:xfrm>
          <a:prstGeom prst="rect">
            <a:avLst/>
          </a:prstGeom>
          <a:solidFill>
            <a:srgbClr val="E0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👤  상신자 (자금 담당자) — ① 수집(자동) · ② 조회 · ③ 상신 · ⑥ 결과조회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5029200"/>
            <a:ext cx="411480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5029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👤  결재자 (팀장·임원) — ④ 결재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943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③ 상신은 ② 상세조회를 완료한 건만 가능합니다. 간략조회만 한 건은 [상신] 버튼이 비활성화됩니다.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0" b="1">
                <a:solidFill>
                  <a:srgbClr val="55B4A1"/>
                </a:solidFill>
                <a:latin typeface="맑은 고딕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180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3774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9E7E0"/>
                </a:solidFill>
                <a:latin typeface="맑은 고딕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Quick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49039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이미 4페이지에서 핵심 5단계를 보여드렸지만,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여기서는 자주 묻는 빠른 작업 위주로 안내합니다.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03. Quick Start &gt; 자주 하는 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자주 하는 작업, 어디서 어떻게?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11 /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544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오늘 만기인 국세 일괄 상신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5448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 &gt; 국고금 상신/결재 → 필터 [납부기한=당일] → 전체 선택 → [상세조회요청] → [상신]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21992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21992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31343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결재 대기 건 한번에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1343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 &gt; 국고금 상신/결재 (결재자 화면) → 결재상태 [결재대기] 선택 → [승인]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231343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80944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80944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7238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실패한 건 재처리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72384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 &gt; 국고금 결과조회 → 은행처리결과 [오류] 건 선택 → [재전송]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307238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9896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39896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31336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지난달 납부 내역 엑셀 다운로드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83133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 &gt; [업무] 결과조회 → 납부일 기간 설정 → [조회] → [엑셀 다운로드]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383133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98848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98848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9028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반려된 건 다시 상신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59028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 &gt; 국고금 상신/결재 → 결재상태 [반려] 필터 → 사유 확인 후 [상신] 재실행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45902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57800"/>
            <a:ext cx="11064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57800"/>
            <a:ext cx="91440" cy="71323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492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결재선 변경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3492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결재선 선택 팝업에서 [결재선 추가] / [순서 변경] 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53492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9178"/>
                </a:solidFill>
                <a:latin typeface="맑은 고딕"/>
              </a:rPr>
              <a:t>p.19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0" b="1">
                <a:solidFill>
                  <a:srgbClr val="55B4A1"/>
                </a:solidFill>
                <a:latin typeface="맑은 고딕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180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3774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9E7E0"/>
                </a:solidFill>
                <a:latin typeface="맑은 고딕"/>
              </a:rPr>
              <a:t>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743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공통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49039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5종 업무 모두에 공통으로 적용되는 핵심 사용법입니다.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9E7E0"/>
                </a:solidFill>
                <a:latin typeface="맑은 고딕"/>
              </a:rPr>
              <a:t>이 챕터만 익혀도 대부분의 작업을 수행할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4.1 메뉴 진입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4.1  메뉴 진입 경로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13 / 45</a:t>
            </a:r>
          </a:p>
        </p:txBody>
      </p:sp>
      <p:pic>
        <p:nvPicPr>
          <p:cNvPr id="10" name="Picture 9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처리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4114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좌측 GNB에서 [지로] 클릭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처리할 업무 5종이 펼쳐집니다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처리할 업무 선택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국고금·지방세·사회보험료·전기/전화·
  일반지로요금 중 선택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[상신/결재] 또는 [결과조회] 선택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업무를 새로 처리 → 상신/결재
  완료된 건 확인 → 결과조회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5120640"/>
            <a:ext cx="4114800" cy="100584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2120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현재 화면 위치는 상단 브레드크럼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[HOME &gt; 지로 &gt; 국고금 상신/결재]로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언제든 확인할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4.2 필터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4.2  필터로 대상 좁히기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14 / 45</a:t>
            </a:r>
          </a:p>
        </p:txBody>
      </p:sp>
      <p:pic>
        <p:nvPicPr>
          <p:cNvPr id="10" name="Picture 9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858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필터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지로상태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전체 / 간략조회 / 상세조회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331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기본값: 전체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6060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지로구분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880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업무별 세부 분류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108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기본값: 전체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83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납부기한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576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당일 ~ 미래일자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기본값: 당일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정렬 옵션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2834640" cy="4572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납부기한순(기본)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617720"/>
            <a:ext cx="2834640" cy="4572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617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납기금액 내림차순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17720"/>
            <a:ext cx="2834640" cy="4572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17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납기금액 오름차순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44068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필터 변경 후에는 반드시 우측 [조회] 버튼을 눌러야 결과가 갱신됩니다. 여러 조건을 동시에 좁힐수록 그리드가 빠르게 표시됩니다. 납부기한은 [당일·7일·15일·30일] 빠른 선택 버튼도 함께 제공됩니다(결재자 화면 기준).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4.3 그리드 읽기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4.3  조회 결과 그리드 읽는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15 / 45</a:t>
            </a:r>
          </a:p>
        </p:txBody>
      </p:sp>
      <p:pic>
        <p:nvPicPr>
          <p:cNvPr id="10" name="Picture 9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77240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주요 컬럼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8288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기업명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현재 ERP 뱅킹 사용 기업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488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지로구분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1488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국세·관세 등 세부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지로상태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4688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간략조회 / 상세조회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7889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납기금액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788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납부해야 할 금액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089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납부기한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1089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납부 마감일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290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결재상태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42900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미상신 / 결재대기 / 결재중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7490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지로번호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7490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은행 발행 지로번호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0690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F2937"/>
                </a:solidFill>
                <a:latin typeface="맑은 고딕"/>
              </a:rPr>
              <a:t>전자납부번호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0690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전자납부 식별번호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486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4864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그리드 상단 좌측의 [총 n,nnn 건 / 총금액 nnn원] 표기로 현재 조회 결과의 합계를 확인할 수 있습니다. 그리드 우측 상단의 [엑셀 다운로드]로 현재 조회 결과를 엑셀 파일로 받을 수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4.4 조회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4.4  간략조회 vs 상세조회 — 차이점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16 /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463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간략조회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463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상세조회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11064240" cy="685800"/>
          </a:xfrm>
          <a:prstGeom prst="rect">
            <a:avLst/>
          </a:prstGeom>
          <a:solidFill>
            <a:srgbClr val="FFFFFF"/>
          </a:solidFill>
          <a:ln w="3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202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실행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965960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체크박스 무선택 후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[간략조회요청]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965960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체크박스 선택 후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[상세조회요청] 클릭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33472"/>
            <a:ext cx="11064240" cy="685800"/>
          </a:xfrm>
          <a:prstGeom prst="rect">
            <a:avLst/>
          </a:prstGeom>
          <a:solidFill>
            <a:srgbClr val="F9FAFB"/>
          </a:solidFill>
          <a:ln w="3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가져오는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67919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지로번호·납기금액 등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기본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67919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징수기관·징수과목·출금계좌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포함 전체 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46704"/>
            <a:ext cx="11064240" cy="685800"/>
          </a:xfrm>
          <a:prstGeom prst="rect">
            <a:avLst/>
          </a:prstGeom>
          <a:solidFill>
            <a:srgbClr val="FFFFFF"/>
          </a:solidFill>
          <a:ln w="3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4670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처리 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392424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빠름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392424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다소 느림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59936"/>
            <a:ext cx="11064240" cy="685800"/>
          </a:xfrm>
          <a:prstGeom prst="rect">
            <a:avLst/>
          </a:prstGeom>
          <a:solidFill>
            <a:srgbClr val="F9FAFB"/>
          </a:solidFill>
          <a:ln w="3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59936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상신 가능 여부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105656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❌ 상신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105656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✅ 상신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73168"/>
            <a:ext cx="11064240" cy="685800"/>
          </a:xfrm>
          <a:prstGeom prst="rect">
            <a:avLst/>
          </a:prstGeom>
          <a:solidFill>
            <a:srgbClr val="FFFFFF"/>
          </a:solidFill>
          <a:ln w="30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7316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권장 사용 시점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4818888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전체 대상 빠르게 훑어보기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818888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상신할 건 확정 후 상세 정보 확보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715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7150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상세조회 → 상신 순서를 반드시 지키세요. 간략조회 상태에서 [상신]을 누르면 ALT-085 알럿이 출력됩니다.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4.5 상신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4.5  상신 절차 — ① 대상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17 / 45</a:t>
            </a:r>
          </a:p>
        </p:txBody>
      </p:sp>
      <p:pic>
        <p:nvPicPr>
          <p:cNvPr id="10" name="Picture 9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이 단계에서 할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상세조회가 완료된 건만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체크박스로 선택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여러 건 동시 선택 가능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같은 결재선이라면 한번에 상신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우측 상단 [상신] 클릭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결재선 선택 팝업이 열립니다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120640"/>
            <a:ext cx="365760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5212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대상을 선택하지 않으면 ALT-004 알럿이 출력됩니다. 결재상태가 [미상신]이 아닌 건을 포함하면 ALT-005 알럿이 출력됩니다.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4.5 상신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4.5  상신 절차 — ② 결재선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18 / 45</a:t>
            </a:r>
          </a:p>
        </p:txBody>
      </p:sp>
      <p:pic>
        <p:nvPicPr>
          <p:cNvPr id="10" name="Picture 9" descr="wf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결재선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상신 → 승인 → 대기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각 단계마다 결재자 1명 지정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결재자 정보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이름, 부서, 결재일시 표기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결재선 저장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자주 쓰는 결재선은 저장하여 재사용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120640"/>
            <a:ext cx="3657600" cy="100584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5212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팝업 하단 [확인]을 누르면 상신이 확정되며,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해당 건의 결재상태가 [결재대기]로 바뀝니다.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4.6 결재자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4.6  결재자 화면 — 상신자 화면과의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19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상신자 화면</a:t>
            </a:r>
          </a:p>
        </p:txBody>
      </p:sp>
      <p:pic>
        <p:nvPicPr>
          <p:cNvPr id="11" name="Picture 10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0292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버튼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  [간략조회요청] [상세조회요청] [상신] [엑셀]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주요 컬럼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  기업명·지로구분·지로상태·납기금액·납부기한·결재상태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7C00"/>
                </a:solidFill>
                <a:latin typeface="맑은 고딕"/>
              </a:rPr>
              <a:t>결재자 화면</a:t>
            </a:r>
          </a:p>
        </p:txBody>
      </p:sp>
      <p:pic>
        <p:nvPicPr>
          <p:cNvPr id="15" name="Picture 14" descr="wf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1920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버튼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  [승인] [반려] [엑셀] — 조회 버튼 없음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주요 컬럼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  No.·기업명·결재문서번호·총금액·건수·결재상태·납부기한·상신일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4.7 승인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4.7  결재 — 승인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20 / 45</a:t>
            </a:r>
          </a:p>
        </p:txBody>
      </p:sp>
      <p:pic>
        <p:nvPicPr>
          <p:cNvPr id="10" name="Picture 9" descr="wf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처리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결재대기 건 체크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결재문서번호를 클릭하면
  상세보기 팝업으로 내역 확인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[승인] 클릭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컨펌 메시지 출력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[확인]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승인 처리 및 자동으로 지급 요청 전송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120640"/>
            <a:ext cx="365760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5212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승인 후에는 취소할 수 없습니다. 결재 상세보기로 내역을 충분히 확인한 뒤 승인하세요.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4.8 반려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4.8  결재 — 반려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21 / 45</a:t>
            </a:r>
          </a:p>
        </p:txBody>
      </p:sp>
      <p:pic>
        <p:nvPicPr>
          <p:cNvPr id="10" name="Picture 9" descr="wf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처리 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반려할 건 체크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[반려] 클릭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반려 사유 입력 팝업이 열립니다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사유 입력 (필수)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상신자가 확인할 수 있는 텍스트로
  명확하게 작성하세요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④ [반려 확정]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결재상태가 [반려]로 변경됩니다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943600"/>
            <a:ext cx="3657600" cy="45720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6035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6035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반려 건의 재상신 방법은 8장 FAQ를 참고하세요.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4.9 결재 상세보기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4.9  결재 상세보기 팝업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22 / 45</a:t>
            </a:r>
          </a:p>
        </p:txBody>
      </p:sp>
      <p:pic>
        <p:nvPicPr>
          <p:cNvPr id="10" name="Picture 9" descr="wf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표기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업무구분 / 총건수 / 총금액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2140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한번에 상신된 전체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결재선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2724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상신·승인·대기 단계별 결재자 정보 (이름·부서·일시)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F2937"/>
                </a:solidFill>
                <a:latin typeface="맑은 고딕"/>
              </a:rPr>
              <a:t>상세 그리드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13308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상신 시 입력된 모든 데이터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(입금은행·입금계좌·지로번호 등 포함)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4.10 엑셀 다운로드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4.10  엑셀 다운로드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23 / 45</a:t>
            </a:r>
          </a:p>
        </p:txBody>
      </p:sp>
      <p:pic>
        <p:nvPicPr>
          <p:cNvPr id="10" name="Picture 9" descr="wf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31520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사용법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필터·조회로 원하는 결과 만들기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그리드 우측 상단 [엑셀 다운로드]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현재 화면에 표시된 모든 컬럼이
  엑셀로 저장됩니다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다운로드 폴더 확인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파일명: 업무명_YYYYMMDD_HHmmss.xlsx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120640"/>
            <a:ext cx="3657600" cy="1005840"/>
          </a:xfrm>
          <a:prstGeom prst="rect">
            <a:avLst/>
          </a:prstGeom>
          <a:solidFill>
            <a:srgbClr val="E0F2EE"/>
          </a:solidFill>
          <a:ln w="6350">
            <a:solidFill>
              <a:srgbClr val="009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6B59"/>
                </a:solidFill>
                <a:latin typeface="맑은 고딕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5212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F2937"/>
                </a:solidFill>
                <a:latin typeface="맑은 고딕"/>
              </a:rPr>
              <a:t>결과조회 화면에서도 동일하게 엑셀 다운로드가 지원되어 월간·분기 보고서 작성에 활용할 수 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4.11 결과조회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4.11  결과조회 — 진입과 기본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24 / 45</a:t>
            </a:r>
          </a:p>
        </p:txBody>
      </p:sp>
      <p:pic>
        <p:nvPicPr>
          <p:cNvPr id="10" name="Picture 9" descr="wf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F57C00"/>
                </a:solidFill>
                <a:latin typeface="맑은 고딕"/>
              </a:rPr>
              <a:t>[와이어프레임 - 추후 실제 화면으로 교체]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17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6B59"/>
                </a:solidFill>
                <a:latin typeface="맑은 고딕"/>
              </a:rPr>
              <a:t>기본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28800"/>
            <a:ext cx="38404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① 지로 &gt; [업무] 결과조회 진입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② 필터 설정 (지로구분·납부일)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납부일은 당일·과거일자 모두 선택 가능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③ [조회] 클릭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은행처리결과·ERP처리상태
  컬럼을 중점적으로 확인</a:t>
            </a:r>
          </a:p>
          <a:p>
            <a:pPr algn="l">
              <a:lnSpc>
                <a:spcPct val="125000"/>
              </a:lnSpc>
            </a:pPr>
            <a:r>
              <a:rPr sz="500" b="0">
                <a:solidFill>
                  <a:srgbClr val="1F2937"/>
                </a:solidFill>
                <a:latin typeface="맑은 고딕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F2937"/>
                </a:solidFill>
                <a:latin typeface="맑은 고딕"/>
              </a:rPr>
              <a:t>④ 필요 시 재처리 버튼 사용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  [재전송] [결과요청] [ERP재처리]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04. 공통 사용법 &gt;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4장 정리 — 공통 사용법 핵심 5가지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25 /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91440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필터 → 조회 순서 지키기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0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필터 변경 후 반드시 [조회]를 눌러야 결과가 갱신됩니다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95728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395728"/>
            <a:ext cx="91440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4871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상세조회 → 상신 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529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간략조회 건은 상신할 수 없습니다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28416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28416"/>
            <a:ext cx="91440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28416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41985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상신·결재 → 한번에 일괄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78561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체크박스 다중 선택으로 효율 극대화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61104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61104"/>
            <a:ext cx="91440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61104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35254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결재 상세보기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1830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승인 전 반드시 결재 상세보기로 내역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93792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93792"/>
            <a:ext cx="914400" cy="86868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93792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285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맑은 고딕"/>
              </a:rPr>
              <a:t>처리 결과는 결과조회 화면에서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65099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은행처리결과·ERP처리상태 두 컬럼이 핵심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9178"/>
                </a:solidFill>
                <a:latin typeface="맑은 고딕"/>
              </a:rPr>
              <a:t>하나은행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94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ERP 뱅킹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19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이후 챕터 (작업 예정)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F2937"/>
                </a:solidFill>
                <a:latin typeface="맑은 고딕"/>
              </a:rPr>
              <a:t>이후 챕터 안내 — 작성 예정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9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ERP 뱅킹 사용자 매뉴얼 · 지로 모듈 ·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37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맑은 고딕"/>
              </a:rPr>
              <a:t>26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이 초안에는 1~4장(공통 사용법)까지 구체적으로 작성되어 있습니다. 확정 후 아래 챕터를 같은 톤·레이아웃으로 이어 작성합니다.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37160" cy="6858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5장. 업무별 가이드 (약 5슬라이드)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420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국고금·지방세·사회보험료·전기/전화·일반지로요금 각 업무의 특이사항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37160" cy="6858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6장. 결과조회 상세 (약 3슬라이드)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은행처리결과/ERP처리상태 의미, 재전송·결과요청·ERP재처리 사용 시점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137160" cy="6858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7장. 오류·알럿 메시지 가이드 (약 5슬라이드)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보내주실 알럿 메시지 파일을 기반으로 사용자 언어로 번역한 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37160" cy="6858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8장. FAQ &amp; 트러블슈팅 (약 3슬라이드)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73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상신/결재 자주 묻는 질문, 권한 문제, 반려 후 재상신 방법 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37160" cy="685800"/>
          </a:xfrm>
          <a:prstGeom prst="rect">
            <a:avLst/>
          </a:prstGeom>
          <a:solidFill>
            <a:srgbClr val="009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937"/>
                </a:solidFill>
                <a:latin typeface="맑은 고딕"/>
              </a:rPr>
              <a:t>9장. 부록 (약 3슬라이드)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용어집, 키워드 색인(ㄱ~ㅎ + 슬라이드 번호), 변경이력·문의처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